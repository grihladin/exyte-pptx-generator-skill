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f5ff6b1fbe424a" /><Relationship Type="http://schemas.openxmlformats.org/officeDocument/2006/relationships/extended-properties" Target="/docProps/app.xml" Id="Rdbb5b5b631d24548" /><Relationship Type="http://schemas.openxmlformats.org/officeDocument/2006/relationships/officeDocument" Target="/ppt/presentation.xml" Id="R445f98c7f90c4c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137e0f05ea4934"/>
  </p:sldMasterIdLst>
  <p:notesMasterIdLst>
    <p:notesMasterId xmlns:r="http://schemas.openxmlformats.org/officeDocument/2006/relationships" r:id="Rb49a09bed1bf45e9"/>
  </p:notesMasterIdLst>
  <p:sldIdLst>
    <p:sldId xmlns:r="http://schemas.openxmlformats.org/officeDocument/2006/relationships" id="256" r:id="Rc1722cea4be44130"/>
    <p:sldId xmlns:r="http://schemas.openxmlformats.org/officeDocument/2006/relationships" id="257" r:id="R7eca26266bc5411a"/>
    <p:sldId xmlns:r="http://schemas.openxmlformats.org/officeDocument/2006/relationships" id="258" r:id="R010b1e19138d43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37e0f05ea4934" /><Relationship Type="http://schemas.openxmlformats.org/officeDocument/2006/relationships/theme" Target="/ppt/theme/theme1.xml" Id="R8421f92ef9174b41" /><Relationship Type="http://schemas.openxmlformats.org/officeDocument/2006/relationships/notesMaster" Target="/ppt/notesMasters/notesMaster1.xml" Id="Rb49a09bed1bf45e9" /><Relationship Type="http://schemas.openxmlformats.org/officeDocument/2006/relationships/presProps" Target="/ppt/presProps.xml" Id="R745eeda9b7ac4e06" /><Relationship Type="http://schemas.openxmlformats.org/officeDocument/2006/relationships/viewProps" Target="/ppt/viewProps.xml" Id="R0bd1e60a7f064fbe" /><Relationship Type="http://schemas.openxmlformats.org/officeDocument/2006/relationships/tableStyles" Target="/ppt/tableStyles.xml" Id="R0a3fcb799af7410d" /><Relationship Type="http://schemas.openxmlformats.org/officeDocument/2006/relationships/slide" Target="/ppt/slides/slide1.xml" Id="Rc1722cea4be44130" /><Relationship Type="http://schemas.openxmlformats.org/officeDocument/2006/relationships/slide" Target="/ppt/slides/slide2.xml" Id="R7eca26266bc5411a" /><Relationship Type="http://schemas.openxmlformats.org/officeDocument/2006/relationships/slide" Target="/ppt/slides/slide3.xml" Id="R010b1e19138d43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77e8504b7e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4a907df2cc4dbb" /><Relationship Type="http://schemas.openxmlformats.org/officeDocument/2006/relationships/notesMaster" Target="/ppt/notesMasters/notesMaster1.xml" Id="R3d0e98a52dac4d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5ed955029543e7" /><Relationship Type="http://schemas.openxmlformats.org/officeDocument/2006/relationships/notesMaster" Target="/ppt/notesMasters/notesMaster1.xml" Id="R5ed45db98d9c44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e89ab0ba3943ea" /><Relationship Type="http://schemas.openxmlformats.org/officeDocument/2006/relationships/notesMaster" Target="/ppt/notesMasters/notesMaster1.xml" Id="R6f78a982812946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23531b03d4f2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8a5f115f53f4806" /><Relationship Type="http://schemas.openxmlformats.org/officeDocument/2006/relationships/slideLayout" Target="/ppt/slideLayouts/slideLayout2.xml" Id="Rabd6e7cb046249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d6e7cb046249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fd8e230a29427d" /><Relationship Type="http://schemas.openxmlformats.org/officeDocument/2006/relationships/notesSlide" Target="/ppt/notesSlides/notesSlide1.xml" Id="R67e993dcf0ae44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73897dd17249f6" /><Relationship Type="http://schemas.openxmlformats.org/officeDocument/2006/relationships/notesSlide" Target="/ppt/notesSlides/notesSlide2.xml" Id="Rbcf781a3ce794c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c6e54c251345b2" /><Relationship Type="http://schemas.openxmlformats.org/officeDocument/2006/relationships/notesSlide" Target="/ppt/notesSlides/notesSlide3.xml" Id="R05006ef778c042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878BD81-B3D1-43C6-B54E-1530F3A3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ight-ink-rail">
            <a:extLst xmlns:a="http://schemas.openxmlformats.org/drawingml/2006/main">
              <a:ext uri="{FF2B5EF4-FFF2-40B4-BE49-F238E27FC236}">
                <a16:creationId xmlns:a16="http://schemas.microsoft.com/office/drawing/2014/main" id="{BD5E4ACB-81E5-4931-A5D6-C0036621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4743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rail-accent">
            <a:extLst xmlns:a="http://schemas.openxmlformats.org/drawingml/2006/main">
              <a:ext uri="{FF2B5EF4-FFF2-40B4-BE49-F238E27FC236}">
                <a16:creationId xmlns:a16="http://schemas.microsoft.com/office/drawing/2014/main" id="{EA0B8D8E-2421-4965-AFBA-BD60C55B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B8453548-955D-4461-881F-536E4AAD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E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885D0405-A8A7-4D50-880C-6230D7D3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6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645F"/>
                </a:solidFill>
                <a:latin typeface="Aptos"/>
                <a:ea typeface="Aptos"/>
                <a:cs typeface="Aptos"/>
              </a:rPr>
              <a:t>WORKFLOW SNAPSHOT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7E937EB-BC3B-403D-ACC4-4DEB8521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09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A smaller team can produce a board-ready narrative in one working day.</a:t>
            </a:r>
          </a:p>
        </p:txBody>
      </p:sp>
      <p:sp>
        <p:nvSpPr>
          <p:cNvPr id="7" name="cover-support-note">
            <a:extLst xmlns:a="http://schemas.openxmlformats.org/drawingml/2006/main">
              <a:ext uri="{FF2B5EF4-FFF2-40B4-BE49-F238E27FC236}">
                <a16:creationId xmlns:a16="http://schemas.microsoft.com/office/drawing/2014/main" id="{02B2A0D7-AECD-4F71-9472-266396F3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533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645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645F"/>
                </a:solidFill>
                <a:latin typeface="Aptos"/>
                <a:ea typeface="Aptos"/>
                <a:cs typeface="Aptos"/>
              </a:rPr>
              <a:t>Three editable slides that demonstrate the PPTX skill path: claim spine, design lock, artifact-tool build, render QA, and final PowerPoint export.</a:t>
            </a:r>
          </a:p>
        </p:txBody>
      </p:sp>
      <p:sp>
        <p:nvSpPr>
          <p:cNvPr id="8" name="cover-lower-rule">
            <a:extLst xmlns:a="http://schemas.openxmlformats.org/drawingml/2006/main">
              <a:ext uri="{FF2B5EF4-FFF2-40B4-BE49-F238E27FC236}">
                <a16:creationId xmlns:a16="http://schemas.microsoft.com/office/drawing/2014/main" id="{D98F263F-9B41-44A3-B8F1-762FFA92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example-deck-label">
            <a:extLst xmlns:a="http://schemas.openxmlformats.org/drawingml/2006/main">
              <a:ext uri="{FF2B5EF4-FFF2-40B4-BE49-F238E27FC236}">
                <a16:creationId xmlns:a16="http://schemas.microsoft.com/office/drawing/2014/main" id="{D46CFA73-51D9-4B2B-8FFB-5088EC90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D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D85"/>
                </a:solidFill>
                <a:latin typeface="Aptos"/>
                <a:ea typeface="Aptos"/>
                <a:cs typeface="Aptos"/>
              </a:rPr>
              <a:t>Example deck</a:t>
            </a:r>
          </a:p>
        </p:txBody>
      </p:sp>
      <p:sp>
        <p:nvSpPr>
          <p:cNvPr id="10" name="example-deck-note">
            <a:extLst xmlns:a="http://schemas.openxmlformats.org/drawingml/2006/main">
              <a:ext uri="{FF2B5EF4-FFF2-40B4-BE49-F238E27FC236}">
                <a16:creationId xmlns:a16="http://schemas.microsoft.com/office/drawing/2014/main" id="{B716E6B6-C4AC-4D62-8D1B-BA9768EA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64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645F"/>
                </a:solidFill>
                <a:latin typeface="Aptos"/>
                <a:ea typeface="Aptos"/>
                <a:cs typeface="Aptos"/>
              </a:rPr>
              <a:t>Built from native PowerPoint text, shapes, bars, and layout primitives.</a:t>
            </a:r>
          </a:p>
        </p:txBody>
      </p:sp>
      <p:sp>
        <p:nvSpPr>
          <p:cNvPr id="11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218A0E39-163A-45EC-951F-19AA34DD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0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4F12EF82-8044-4F79-A627-D7F0F313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38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E7D5"/>
                </a:solidFill>
                <a:latin typeface="Aptos"/>
                <a:ea typeface="Aptos"/>
                <a:cs typeface="Aptos"/>
              </a:rPr>
              <a:t>SAMPLE OUTPUT</a:t>
            </a:r>
          </a:p>
        </p:txBody>
      </p:sp>
      <p:sp>
        <p:nvSpPr>
          <p:cNvPr id="13" name="rail-title">
            <a:extLst xmlns:a="http://schemas.openxmlformats.org/drawingml/2006/main">
              <a:ext uri="{FF2B5EF4-FFF2-40B4-BE49-F238E27FC236}">
                <a16:creationId xmlns:a16="http://schemas.microsoft.com/office/drawing/2014/main" id="{6FCCEB2D-1619-4F64-86D4-ED560979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049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Editable proof rail</a:t>
            </a:r>
          </a:p>
        </p:txBody>
      </p:sp>
      <p:sp>
        <p:nvSpPr>
          <p:cNvPr id="14" name="rail-note">
            <a:extLst xmlns:a="http://schemas.openxmlformats.org/drawingml/2006/main">
              <a:ext uri="{FF2B5EF4-FFF2-40B4-BE49-F238E27FC236}">
                <a16:creationId xmlns:a16="http://schemas.microsoft.com/office/drawing/2014/main" id="{1C42ED58-194C-41CF-BF08-CF139FD0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DBF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DBFAE"/>
                </a:solidFill>
                <a:latin typeface="Aptos"/>
                <a:ea typeface="Aptos"/>
                <a:cs typeface="Aptos"/>
              </a:rPr>
              <a:t>The values below are placeholders used to show how a metric system renders.</a:t>
            </a:r>
          </a:p>
        </p:txBody>
      </p:sp>
      <p:sp>
        <p:nvSpPr>
          <p:cNvPr id="15" name="metric-1-rule">
            <a:extLst xmlns:a="http://schemas.openxmlformats.org/drawingml/2006/main">
              <a:ext uri="{FF2B5EF4-FFF2-40B4-BE49-F238E27FC236}">
                <a16:creationId xmlns:a16="http://schemas.microsoft.com/office/drawing/2014/main" id="{3106BF24-1716-4310-8D6B-CC882C2C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1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1-value">
            <a:extLst xmlns:a="http://schemas.openxmlformats.org/drawingml/2006/main">
              <a:ext uri="{FF2B5EF4-FFF2-40B4-BE49-F238E27FC236}">
                <a16:creationId xmlns:a16="http://schemas.microsoft.com/office/drawing/2014/main" id="{0C82D01B-7280-4AD2-B4F0-06993C3F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79A3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C79A3D"/>
                </a:solidFill>
                <a:latin typeface="Aptos Display"/>
                <a:ea typeface="Aptos Display"/>
                <a:cs typeface="Aptos Display"/>
              </a:rPr>
              <a:t>1 day</a:t>
            </a:r>
          </a:p>
        </p:txBody>
      </p:sp>
      <p:sp>
        <p:nvSpPr>
          <p:cNvPr id="17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4F908790-BB78-464E-AACF-FCB245F6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146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brief to draft</a:t>
            </a:r>
          </a:p>
        </p:txBody>
      </p:sp>
      <p:sp>
        <p:nvSpPr>
          <p:cNvPr id="18" name="metric-1-context">
            <a:extLst xmlns:a="http://schemas.openxmlformats.org/drawingml/2006/main">
              <a:ext uri="{FF2B5EF4-FFF2-40B4-BE49-F238E27FC236}">
                <a16:creationId xmlns:a16="http://schemas.microsoft.com/office/drawing/2014/main" id="{750508C1-1060-43C0-8296-C98D1100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DBF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DBFAE"/>
                </a:solidFill>
                <a:latin typeface="Aptos"/>
                <a:ea typeface="Aptos"/>
                <a:cs typeface="Aptos"/>
              </a:rPr>
              <a:t>story, build, and QA kept as separate loops</a:t>
            </a:r>
          </a:p>
        </p:txBody>
      </p:sp>
      <p:sp>
        <p:nvSpPr>
          <p:cNvPr id="19" name="metric-2-rule">
            <a:extLst xmlns:a="http://schemas.openxmlformats.org/drawingml/2006/main">
              <a:ext uri="{FF2B5EF4-FFF2-40B4-BE49-F238E27FC236}">
                <a16:creationId xmlns:a16="http://schemas.microsoft.com/office/drawing/2014/main" id="{57A7B048-A966-4105-BF01-107FEBFE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1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etric-2-value">
            <a:extLst xmlns:a="http://schemas.openxmlformats.org/drawingml/2006/main">
              <a:ext uri="{FF2B5EF4-FFF2-40B4-BE49-F238E27FC236}">
                <a16:creationId xmlns:a16="http://schemas.microsoft.com/office/drawing/2014/main" id="{635E2A0F-25F7-4738-A356-46A1AB73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140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7D1A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7D1A0"/>
                </a:solidFill>
                <a:latin typeface="Aptos Display"/>
                <a:ea typeface="Aptos Display"/>
                <a:cs typeface="Aptos Display"/>
              </a:rPr>
              <a:t>3x</a:t>
            </a:r>
          </a:p>
        </p:txBody>
      </p:sp>
      <p:sp>
        <p:nvSpPr>
          <p:cNvPr id="21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9D94F16E-99B5-481A-A915-360CFFF5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QA gates</a:t>
            </a:r>
          </a:p>
        </p:txBody>
      </p:sp>
      <p:sp>
        <p:nvSpPr>
          <p:cNvPr id="22" name="metric-2-context">
            <a:extLst xmlns:a="http://schemas.openxmlformats.org/drawingml/2006/main">
              <a:ext uri="{FF2B5EF4-FFF2-40B4-BE49-F238E27FC236}">
                <a16:creationId xmlns:a16="http://schemas.microsoft.com/office/drawing/2014/main" id="{AE017DB9-895E-4090-BC6D-2D6BAF1A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052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DBF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DBFAE"/>
                </a:solidFill>
                <a:latin typeface="Aptos"/>
                <a:ea typeface="Aptos"/>
                <a:cs typeface="Aptos"/>
              </a:rPr>
              <a:t>story logic, render quality, package checks</a:t>
            </a:r>
          </a:p>
        </p:txBody>
      </p:sp>
      <p:sp>
        <p:nvSpPr>
          <p:cNvPr id="23" name="metric-3-rule">
            <a:extLst xmlns:a="http://schemas.openxmlformats.org/drawingml/2006/main">
              <a:ext uri="{FF2B5EF4-FFF2-40B4-BE49-F238E27FC236}">
                <a16:creationId xmlns:a16="http://schemas.microsoft.com/office/drawing/2014/main" id="{3DDCDD64-AD32-49E4-90A0-7A66B3E8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1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metric-3-value">
            <a:extLst xmlns:a="http://schemas.openxmlformats.org/drawingml/2006/main">
              <a:ext uri="{FF2B5EF4-FFF2-40B4-BE49-F238E27FC236}">
                <a16:creationId xmlns:a16="http://schemas.microsoft.com/office/drawing/2014/main" id="{4213B6E7-F2AA-4F5C-91FE-122AEFA7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ED4C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9ED4C4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25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FB9DA257-26F6-4BAE-8D92-4998C0E7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625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editable</a:t>
            </a:r>
          </a:p>
        </p:txBody>
      </p:sp>
      <p:sp>
        <p:nvSpPr>
          <p:cNvPr id="26" name="metric-3-context">
            <a:extLst xmlns:a="http://schemas.openxmlformats.org/drawingml/2006/main">
              <a:ext uri="{FF2B5EF4-FFF2-40B4-BE49-F238E27FC236}">
                <a16:creationId xmlns:a16="http://schemas.microsoft.com/office/drawing/2014/main" id="{7A801C90-2B4C-40DC-9411-E7FE62BF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DBF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DBFAE"/>
                </a:solidFill>
                <a:latin typeface="Aptos"/>
                <a:ea typeface="Aptos"/>
                <a:cs typeface="Aptos"/>
              </a:rPr>
              <a:t>text, shapes, and bars remain PowerPoint objects</a:t>
            </a:r>
          </a:p>
        </p:txBody>
      </p:sp>
      <p:sp>
        <p:nvSpPr>
          <p:cNvPr id="2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A06F61B-CE06-4F91-89AD-C18BEEC4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655137A-2770-4777-A65A-EE9643B3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Illustrative example data | Generated with artifact-tool PPTX skill</a:t>
            </a:r>
          </a:p>
        </p:txBody>
      </p:sp>
      <p:sp>
        <p:nvSpPr>
          <p:cNvPr id="29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C05D35D-A99A-4FFD-BA9F-8C13B37C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817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73440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820D649-3258-4DFE-81B7-948E1F26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F88B6EEE-5A2A-4B85-A830-80A8B0E5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D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563D0080-9E28-4E67-83E3-3DD59A3A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6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645F"/>
                </a:solidFill>
                <a:latin typeface="Aptos"/>
                <a:ea typeface="Aptos"/>
                <a:cs typeface="Aptos"/>
              </a:rPr>
              <a:t>OPERATING LOOP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0718BD2-5C16-4EED-BEEB-53475702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52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work moves from prompt to proof through three controlled loops.</a:t>
            </a:r>
          </a:p>
        </p:txBody>
      </p:sp>
      <p:sp>
        <p:nvSpPr>
          <p:cNvPr id="5" name="workflow-support-note">
            <a:extLst xmlns:a="http://schemas.openxmlformats.org/drawingml/2006/main">
              <a:ext uri="{FF2B5EF4-FFF2-40B4-BE49-F238E27FC236}">
                <a16:creationId xmlns:a16="http://schemas.microsoft.com/office/drawing/2014/main" id="{3B422814-B4B8-4CA1-A91A-905297E4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000125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4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45F"/>
                </a:solidFill>
                <a:latin typeface="Aptos"/>
                <a:ea typeface="Aptos"/>
                <a:cs typeface="Aptos"/>
              </a:rPr>
              <a:t>Each loop produces an explicit artifact, which keeps the final deck editable and makes visual QA repeatable.</a:t>
            </a:r>
          </a:p>
        </p:txBody>
      </p:sp>
      <p:sp>
        <p:nvSpPr>
          <p:cNvPr id="6" name="stage-1-box">
            <a:extLst xmlns:a="http://schemas.openxmlformats.org/drawingml/2006/main">
              <a:ext uri="{FF2B5EF4-FFF2-40B4-BE49-F238E27FC236}">
                <a16:creationId xmlns:a16="http://schemas.microsoft.com/office/drawing/2014/main" id="{21777BE5-0A2D-47B8-A110-A7CAF86C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3143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7" name="stage-1-marker">
            <a:extLst xmlns:a="http://schemas.openxmlformats.org/drawingml/2006/main">
              <a:ext uri="{FF2B5EF4-FFF2-40B4-BE49-F238E27FC236}">
                <a16:creationId xmlns:a16="http://schemas.microsoft.com/office/drawing/2014/main" id="{66020F81-13E4-4AEC-B023-8B9AF002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3E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791D2642-13BF-4A08-BAE2-15B93CE4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47925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56B4B142-C8F6-40C3-B209-5C649B9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19350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Story lock</a:t>
            </a:r>
          </a:p>
        </p:txBody>
      </p:sp>
      <p:sp>
        <p:nvSpPr>
          <p:cNvPr id="10" name="stage-1-rule">
            <a:extLst xmlns:a="http://schemas.openxmlformats.org/drawingml/2006/main">
              <a:ext uri="{FF2B5EF4-FFF2-40B4-BE49-F238E27FC236}">
                <a16:creationId xmlns:a16="http://schemas.microsoft.com/office/drawing/2014/main" id="{A03669E0-CE75-4B82-B445-6AA733BF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tage-1-detail">
            <a:extLst xmlns:a="http://schemas.openxmlformats.org/drawingml/2006/main">
              <a:ext uri="{FF2B5EF4-FFF2-40B4-BE49-F238E27FC236}">
                <a16:creationId xmlns:a16="http://schemas.microsoft.com/office/drawing/2014/main" id="{6FBF4A95-BA16-4B1E-B8DF-863B4154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4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45F"/>
                </a:solidFill>
                <a:latin typeface="Aptos"/>
                <a:ea typeface="Aptos"/>
                <a:cs typeface="Aptos"/>
              </a:rPr>
              <a:t>Claims, omissions, and proof objects are written before drawing any slide.</a:t>
            </a:r>
          </a:p>
        </p:txBody>
      </p:sp>
      <p:sp>
        <p:nvSpPr>
          <p:cNvPr id="12" name="stage-1-proof-box">
            <a:extLst xmlns:a="http://schemas.openxmlformats.org/drawingml/2006/main">
              <a:ext uri="{FF2B5EF4-FFF2-40B4-BE49-F238E27FC236}">
                <a16:creationId xmlns:a16="http://schemas.microsoft.com/office/drawing/2014/main" id="{84E1F600-A57B-466E-9A0A-04BA26FE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tage-1-proof">
            <a:extLst xmlns:a="http://schemas.openxmlformats.org/drawingml/2006/main">
              <a:ext uri="{FF2B5EF4-FFF2-40B4-BE49-F238E27FC236}">
                <a16:creationId xmlns:a16="http://schemas.microsoft.com/office/drawing/2014/main" id="{FC6BA1A8-5C8A-471B-B9CE-2A175A0B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Output: claim spine</a:t>
            </a:r>
          </a:p>
        </p:txBody>
      </p:sp>
      <p:sp>
        <p:nvSpPr>
          <p:cNvPr id="14" name="stage-2-box">
            <a:extLst xmlns:a="http://schemas.openxmlformats.org/drawingml/2006/main">
              <a:ext uri="{FF2B5EF4-FFF2-40B4-BE49-F238E27FC236}">
                <a16:creationId xmlns:a16="http://schemas.microsoft.com/office/drawing/2014/main" id="{B7FE10B4-E75E-4D08-8B13-10C0A94D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2650"/>
            <a:ext cx="3143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5" name="stage-2-marker">
            <a:extLst xmlns:a="http://schemas.openxmlformats.org/drawingml/2006/main">
              <a:ext uri="{FF2B5EF4-FFF2-40B4-BE49-F238E27FC236}">
                <a16:creationId xmlns:a16="http://schemas.microsoft.com/office/drawing/2014/main" id="{9DC97131-7A93-4843-AFEC-60F67E13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19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D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A18EC3E6-8A8A-425C-8096-129FE956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47925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D43C3991-B777-411B-8397-E0E64486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19350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Editable build</a:t>
            </a:r>
          </a:p>
        </p:txBody>
      </p:sp>
      <p:sp>
        <p:nvSpPr>
          <p:cNvPr id="18" name="stage-2-rule">
            <a:extLst xmlns:a="http://schemas.openxmlformats.org/drawingml/2006/main">
              <a:ext uri="{FF2B5EF4-FFF2-40B4-BE49-F238E27FC236}">
                <a16:creationId xmlns:a16="http://schemas.microsoft.com/office/drawing/2014/main" id="{349EBDE5-912A-46A1-9597-82597DD5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43250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tage-2-detail">
            <a:extLst xmlns:a="http://schemas.openxmlformats.org/drawingml/2006/main">
              <a:ext uri="{FF2B5EF4-FFF2-40B4-BE49-F238E27FC236}">
                <a16:creationId xmlns:a16="http://schemas.microsoft.com/office/drawing/2014/main" id="{B73AFAD8-0397-47AA-AF13-D4FE2F3B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528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4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45F"/>
                </a:solidFill>
                <a:latin typeface="Aptos"/>
                <a:ea typeface="Aptos"/>
                <a:cs typeface="Aptos"/>
              </a:rPr>
              <a:t>Artifact-tool modules create native text, shapes, and chart primitives.</a:t>
            </a:r>
          </a:p>
        </p:txBody>
      </p:sp>
      <p:sp>
        <p:nvSpPr>
          <p:cNvPr id="20" name="stage-2-proof-box">
            <a:extLst xmlns:a="http://schemas.openxmlformats.org/drawingml/2006/main">
              <a:ext uri="{FF2B5EF4-FFF2-40B4-BE49-F238E27FC236}">
                <a16:creationId xmlns:a16="http://schemas.microsoft.com/office/drawing/2014/main" id="{FE1BA190-FA0D-4D4B-A665-063FF084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305300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tage-2-proof">
            <a:extLst xmlns:a="http://schemas.openxmlformats.org/drawingml/2006/main">
              <a:ext uri="{FF2B5EF4-FFF2-40B4-BE49-F238E27FC236}">
                <a16:creationId xmlns:a16="http://schemas.microsoft.com/office/drawing/2014/main" id="{E9A86D89-CB13-4DD5-8C9F-38E3332E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39102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Output: slide modules</a:t>
            </a:r>
          </a:p>
        </p:txBody>
      </p:sp>
      <p:sp>
        <p:nvSpPr>
          <p:cNvPr id="22" name="stage-3-box">
            <a:extLst xmlns:a="http://schemas.openxmlformats.org/drawingml/2006/main">
              <a:ext uri="{FF2B5EF4-FFF2-40B4-BE49-F238E27FC236}">
                <a16:creationId xmlns:a16="http://schemas.microsoft.com/office/drawing/2014/main" id="{1BD1DA0E-1803-4DA1-A655-9D219EA6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143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3" name="stage-3-marker">
            <a:extLst xmlns:a="http://schemas.openxmlformats.org/drawingml/2006/main">
              <a:ext uri="{FF2B5EF4-FFF2-40B4-BE49-F238E27FC236}">
                <a16:creationId xmlns:a16="http://schemas.microsoft.com/office/drawing/2014/main" id="{9B8E2322-B246-416A-908D-868C5117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9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F31C913F-BEFC-44DB-9E8C-BBB1BBFD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47925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92DA8570-006C-4D34-A8E8-5467B4A7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Render QA</a:t>
            </a:r>
          </a:p>
        </p:txBody>
      </p:sp>
      <p:sp>
        <p:nvSpPr>
          <p:cNvPr id="26" name="stage-3-rule">
            <a:extLst xmlns:a="http://schemas.openxmlformats.org/drawingml/2006/main">
              <a:ext uri="{FF2B5EF4-FFF2-40B4-BE49-F238E27FC236}">
                <a16:creationId xmlns:a16="http://schemas.microsoft.com/office/drawing/2014/main" id="{BE15F4C2-0154-4164-B6ED-585E324E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tage-3-detail">
            <a:extLst xmlns:a="http://schemas.openxmlformats.org/drawingml/2006/main">
              <a:ext uri="{FF2B5EF4-FFF2-40B4-BE49-F238E27FC236}">
                <a16:creationId xmlns:a16="http://schemas.microsoft.com/office/drawing/2014/main" id="{B8A55B03-4FF7-4F64-9800-BD27B2FF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528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4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645F"/>
                </a:solidFill>
                <a:latin typeface="Aptos"/>
                <a:ea typeface="Aptos"/>
                <a:cs typeface="Aptos"/>
              </a:rPr>
              <a:t>PNG previews, layout checks, and package checks catch export defects.</a:t>
            </a:r>
          </a:p>
        </p:txBody>
      </p:sp>
      <p:sp>
        <p:nvSpPr>
          <p:cNvPr id="28" name="stage-3-proof-box">
            <a:extLst xmlns:a="http://schemas.openxmlformats.org/drawingml/2006/main">
              <a:ext uri="{FF2B5EF4-FFF2-40B4-BE49-F238E27FC236}">
                <a16:creationId xmlns:a16="http://schemas.microsoft.com/office/drawing/2014/main" id="{6826A73D-58A0-4421-8817-1371CFFE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tage-3-proof">
            <a:extLst xmlns:a="http://schemas.openxmlformats.org/drawingml/2006/main">
              <a:ext uri="{FF2B5EF4-FFF2-40B4-BE49-F238E27FC236}">
                <a16:creationId xmlns:a16="http://schemas.microsoft.com/office/drawing/2014/main" id="{E31211ED-D24C-4771-BAEF-62400D2C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9102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Output: final PPTX</a:t>
            </a:r>
          </a:p>
        </p:txBody>
      </p:sp>
      <p:sp>
        <p:nvSpPr>
          <p:cNvPr id="30" name="connector-1-2">
            <a:extLst xmlns:a="http://schemas.openxmlformats.org/drawingml/2006/main">
              <a:ext uri="{FF2B5EF4-FFF2-40B4-BE49-F238E27FC236}">
                <a16:creationId xmlns:a16="http://schemas.microsoft.com/office/drawing/2014/main" id="{C9DDE54B-1F77-4B1D-B4AB-89044CA3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81400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D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connector-2-3">
            <a:extLst xmlns:a="http://schemas.openxmlformats.org/drawingml/2006/main">
              <a:ext uri="{FF2B5EF4-FFF2-40B4-BE49-F238E27FC236}">
                <a16:creationId xmlns:a16="http://schemas.microsoft.com/office/drawing/2014/main" id="{815D8A7F-E916-4C99-B7D0-6CCA8514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81400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D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outcome-band">
            <a:extLst xmlns:a="http://schemas.openxmlformats.org/drawingml/2006/main">
              <a:ext uri="{FF2B5EF4-FFF2-40B4-BE49-F238E27FC236}">
                <a16:creationId xmlns:a16="http://schemas.microsoft.com/office/drawing/2014/main" id="{D76359F2-EA5B-49EF-9F02-9AD084C1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outcome-band-text">
            <a:extLst xmlns:a="http://schemas.openxmlformats.org/drawingml/2006/main">
              <a:ext uri="{FF2B5EF4-FFF2-40B4-BE49-F238E27FC236}">
                <a16:creationId xmlns:a16="http://schemas.microsoft.com/office/drawing/2014/main" id="{314DD8DC-F0E7-4038-A236-79A1197C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971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E7D5"/>
                </a:solidFill>
                <a:latin typeface="Aptos"/>
                <a:ea typeface="Aptos"/>
                <a:cs typeface="Aptos"/>
              </a:rPr>
              <a:t>Operating rule: do not move to export until the rendered contact sheet proves rhythm, readability, and package integrity.</a:t>
            </a:r>
          </a:p>
        </p:txBody>
      </p:sp>
      <p:sp>
        <p:nvSpPr>
          <p:cNvPr id="3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EDDE77-ACBF-4B72-91A0-9795F7C3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7E934FF-5B91-4655-BC08-E90DAE6E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Illustrative example data | Generated with artifact-tool PPTX skill</a:t>
            </a:r>
          </a:p>
        </p:txBody>
      </p:sp>
      <p:sp>
        <p:nvSpPr>
          <p:cNvPr id="3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677CDB1-C71D-4A32-B1CE-8BD7F3EE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81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65938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BF7E03F-B38D-4746-B8DE-FB180D76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context-rail">
            <a:extLst xmlns:a="http://schemas.openxmlformats.org/drawingml/2006/main">
              <a:ext uri="{FF2B5EF4-FFF2-40B4-BE49-F238E27FC236}">
                <a16:creationId xmlns:a16="http://schemas.microsoft.com/office/drawing/2014/main" id="{C6BF00A8-1AD7-4626-AD24-2E30356B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context-rail-accent">
            <a:extLst xmlns:a="http://schemas.openxmlformats.org/drawingml/2006/main">
              <a:ext uri="{FF2B5EF4-FFF2-40B4-BE49-F238E27FC236}">
                <a16:creationId xmlns:a16="http://schemas.microsoft.com/office/drawing/2014/main" id="{0F932B36-2544-4CFB-B7B0-79B77B8B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3B6CC856-7DB9-43C6-8E7E-B0EEC418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753EBE9A-6F96-43E8-9D0C-01BEDDCB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E7D5"/>
                </a:solidFill>
                <a:latin typeface="Aptos"/>
                <a:ea typeface="Aptos"/>
                <a:cs typeface="Aptos"/>
              </a:rPr>
              <a:t>QA LOOP</a:t>
            </a:r>
          </a:p>
        </p:txBody>
      </p:sp>
      <p:sp>
        <p:nvSpPr>
          <p:cNvPr id="6" name="rail-heading">
            <a:extLst xmlns:a="http://schemas.openxmlformats.org/drawingml/2006/main">
              <a:ext uri="{FF2B5EF4-FFF2-40B4-BE49-F238E27FC236}">
                <a16:creationId xmlns:a16="http://schemas.microsoft.com/office/drawing/2014/main" id="{57F9A6ED-BDC2-476F-94D3-CAB664A4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Separate checks</a:t>
            </a:r>
          </a:p>
        </p:txBody>
      </p:sp>
      <p:sp>
        <p:nvSpPr>
          <p:cNvPr id="7" name="rail-body">
            <a:extLst xmlns:a="http://schemas.openxmlformats.org/drawingml/2006/main">
              <a:ext uri="{FF2B5EF4-FFF2-40B4-BE49-F238E27FC236}">
                <a16:creationId xmlns:a16="http://schemas.microsoft.com/office/drawing/2014/main" id="{2FBD7F94-9B9B-4F2F-91BD-53CCE74D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BF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DBFAE"/>
                </a:solidFill>
                <a:latin typeface="Aptos"/>
                <a:ea typeface="Aptos"/>
                <a:cs typeface="Aptos"/>
              </a:rPr>
              <a:t>Story logic, visual rhythm, and render integrity fail for different reasons. Treating them as one review step hides the source of quality defects.</a:t>
            </a:r>
          </a:p>
        </p:txBody>
      </p:sp>
      <p:sp>
        <p:nvSpPr>
          <p:cNvPr id="8" name="rail-rule">
            <a:extLst xmlns:a="http://schemas.openxmlformats.org/drawingml/2006/main">
              <a:ext uri="{FF2B5EF4-FFF2-40B4-BE49-F238E27FC236}">
                <a16:creationId xmlns:a16="http://schemas.microsoft.com/office/drawing/2014/main" id="{3E262026-69D0-4A88-9B96-9E7F028E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ail-steps">
            <a:extLst xmlns:a="http://schemas.openxmlformats.org/drawingml/2006/main">
              <a:ext uri="{FF2B5EF4-FFF2-40B4-BE49-F238E27FC236}">
                <a16:creationId xmlns:a16="http://schemas.microsoft.com/office/drawing/2014/main" id="{2369546E-76F2-42BA-B840-1801F47C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2E7D5"/>
                </a:solidFill>
                <a:latin typeface="Aptos"/>
                <a:ea typeface="Aptos"/>
                <a:cs typeface="Aptos"/>
              </a:rPr>
              <a:t>1. Fix the claim</a:t>
            </a:r>
          </a:p>
          <a:p xmlns:a="http://schemas.openxmlformats.org/drawingml/2006/main">
            <a:pPr algn="l">
              <a:defRPr sz="1200" b="0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2E7D5"/>
                </a:solidFill>
                <a:latin typeface="Aptos"/>
                <a:ea typeface="Aptos"/>
                <a:cs typeface="Aptos"/>
              </a:rPr>
              <a:t>2. Simplify the proof</a:t>
            </a:r>
          </a:p>
          <a:p xmlns:a="http://schemas.openxmlformats.org/drawingml/2006/main">
            <a:pPr algn="l">
              <a:defRPr sz="1200" b="0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2E7D5"/>
                </a:solidFill>
                <a:latin typeface="Aptos"/>
                <a:ea typeface="Aptos"/>
                <a:cs typeface="Aptos"/>
              </a:rPr>
              <a:t>3. Re-render the deck</a:t>
            </a:r>
          </a:p>
        </p:txBody>
      </p:sp>
      <p:sp>
        <p:nvSpPr>
          <p:cNvPr id="10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B7B53F9-9E43-415A-A866-D96D48A2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1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EC8515FB-98C1-4054-8183-A0B52ED8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53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E7D5"/>
                </a:solidFill>
                <a:latin typeface="Aptos"/>
                <a:ea typeface="Aptos"/>
                <a:cs typeface="Aptos"/>
              </a:rPr>
              <a:t>EXAMPLE SCORECARD</a:t>
            </a:r>
          </a:p>
        </p:txBody>
      </p:sp>
      <p:sp>
        <p:nvSpPr>
          <p:cNvPr id="12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C316FF2-0D2A-44E2-8300-669971EB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953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Quality improves fastest when evidence and rendering checks are separated.</a:t>
            </a:r>
          </a:p>
        </p:txBody>
      </p:sp>
      <p:sp>
        <p:nvSpPr>
          <p:cNvPr id="13" name="chart-note">
            <a:extLst xmlns:a="http://schemas.openxmlformats.org/drawingml/2006/main">
              <a:ext uri="{FF2B5EF4-FFF2-40B4-BE49-F238E27FC236}">
                <a16:creationId xmlns:a16="http://schemas.microsoft.com/office/drawing/2014/main" id="{4BA68CA1-FB07-4B31-89F2-943D50DF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2880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BF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DBFAE"/>
                </a:solidFill>
                <a:latin typeface="Aptos"/>
                <a:ea typeface="Aptos"/>
                <a:cs typeface="Aptos"/>
              </a:rPr>
              <a:t>Illustrative 1-5 rubric scores after a first artifact-tool pass and after a focused QA iteration.</a:t>
            </a:r>
          </a:p>
        </p:txBody>
      </p:sp>
      <p:sp>
        <p:nvSpPr>
          <p:cNvPr id="14" name="legend-before">
            <a:extLst xmlns:a="http://schemas.openxmlformats.org/drawingml/2006/main">
              <a:ext uri="{FF2B5EF4-FFF2-40B4-BE49-F238E27FC236}">
                <a16:creationId xmlns:a16="http://schemas.microsoft.com/office/drawing/2014/main" id="{7CD9E355-705C-49F6-B39C-37F765F7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336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AC1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AC1C7"/>
                </a:solidFill>
                <a:latin typeface="Aptos"/>
                <a:ea typeface="Aptos"/>
                <a:cs typeface="Aptos"/>
              </a:rPr>
              <a:t>First pass</a:t>
            </a:r>
          </a:p>
        </p:txBody>
      </p:sp>
      <p:sp>
        <p:nvSpPr>
          <p:cNvPr id="15" name="legend-before-mark">
            <a:extLst xmlns:a="http://schemas.openxmlformats.org/drawingml/2006/main">
              <a:ext uri="{FF2B5EF4-FFF2-40B4-BE49-F238E27FC236}">
                <a16:creationId xmlns:a16="http://schemas.microsoft.com/office/drawing/2014/main" id="{9836F001-E1D6-4423-AE43-F7C82CDC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egend-after">
            <a:extLst xmlns:a="http://schemas.openxmlformats.org/drawingml/2006/main">
              <a:ext uri="{FF2B5EF4-FFF2-40B4-BE49-F238E27FC236}">
                <a16:creationId xmlns:a16="http://schemas.microsoft.com/office/drawing/2014/main" id="{E38AAFFA-8326-4842-9C12-9DF4209F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2E7D5"/>
                </a:solidFill>
                <a:latin typeface="Aptos"/>
                <a:ea typeface="Aptos"/>
                <a:cs typeface="Aptos"/>
              </a:rPr>
              <a:t>After QA</a:t>
            </a:r>
          </a:p>
        </p:txBody>
      </p:sp>
      <p:sp>
        <p:nvSpPr>
          <p:cNvPr id="17" name="legend-after-mark">
            <a:extLst xmlns:a="http://schemas.openxmlformats.org/drawingml/2006/main">
              <a:ext uri="{FF2B5EF4-FFF2-40B4-BE49-F238E27FC236}">
                <a16:creationId xmlns:a16="http://schemas.microsoft.com/office/drawing/2014/main" id="{51376FF1-E2DC-4012-8CD0-64D14CE6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7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bar-1-label">
            <a:extLst xmlns:a="http://schemas.openxmlformats.org/drawingml/2006/main">
              <a:ext uri="{FF2B5EF4-FFF2-40B4-BE49-F238E27FC236}">
                <a16:creationId xmlns:a16="http://schemas.microsoft.com/office/drawing/2014/main" id="{F21ADA0B-3396-4CE5-BB1A-61A952B7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2E7D5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19" name="bar-1-track-before">
            <a:extLst xmlns:a="http://schemas.openxmlformats.org/drawingml/2006/main">
              <a:ext uri="{FF2B5EF4-FFF2-40B4-BE49-F238E27FC236}">
                <a16:creationId xmlns:a16="http://schemas.microsoft.com/office/drawing/2014/main" id="{A2B056B0-7CD5-4C7A-AA15-727AD269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4038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bar-1-before">
            <a:extLst xmlns:a="http://schemas.openxmlformats.org/drawingml/2006/main">
              <a:ext uri="{FF2B5EF4-FFF2-40B4-BE49-F238E27FC236}">
                <a16:creationId xmlns:a16="http://schemas.microsoft.com/office/drawing/2014/main" id="{EDD61D58-4D46-489B-A1DD-2F66DEEF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266547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bar-1-track-after">
            <a:extLst xmlns:a="http://schemas.openxmlformats.org/drawingml/2006/main">
              <a:ext uri="{FF2B5EF4-FFF2-40B4-BE49-F238E27FC236}">
                <a16:creationId xmlns:a16="http://schemas.microsoft.com/office/drawing/2014/main" id="{3749BCF3-5D88-4D85-8C71-EFC381A9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ar-1-after">
            <a:extLst xmlns:a="http://schemas.openxmlformats.org/drawingml/2006/main">
              <a:ext uri="{FF2B5EF4-FFF2-40B4-BE49-F238E27FC236}">
                <a16:creationId xmlns:a16="http://schemas.microsoft.com/office/drawing/2014/main" id="{01CA3F87-EF7F-4C1B-A8E4-852D801D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363474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7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bar-1-before-value">
            <a:extLst xmlns:a="http://schemas.openxmlformats.org/drawingml/2006/main">
              <a:ext uri="{FF2B5EF4-FFF2-40B4-BE49-F238E27FC236}">
                <a16:creationId xmlns:a16="http://schemas.microsoft.com/office/drawing/2014/main" id="{803CACF1-F6E7-42B1-A018-01D01CFA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126" y="30194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AC1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AC1C7"/>
                </a:solidFill>
                <a:latin typeface="Aptos"/>
                <a:ea typeface="Aptos"/>
                <a:cs typeface="Aptos"/>
              </a:rPr>
              <a:t>3.3</a:t>
            </a:r>
          </a:p>
        </p:txBody>
      </p:sp>
      <p:sp>
        <p:nvSpPr>
          <p:cNvPr id="24" name="bar-1-after-value">
            <a:extLst xmlns:a="http://schemas.openxmlformats.org/drawingml/2006/main">
              <a:ext uri="{FF2B5EF4-FFF2-40B4-BE49-F238E27FC236}">
                <a16:creationId xmlns:a16="http://schemas.microsoft.com/office/drawing/2014/main" id="{AE5130A2-B475-4FB8-821E-18BDF54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390" y="33051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2E7D5"/>
                </a:solidFill>
                <a:latin typeface="Aptos"/>
                <a:ea typeface="Aptos"/>
                <a:cs typeface="Aptos"/>
              </a:rPr>
              <a:t>4.5</a:t>
            </a:r>
          </a:p>
        </p:txBody>
      </p:sp>
      <p:sp>
        <p:nvSpPr>
          <p:cNvPr id="25" name="bar-2-label">
            <a:extLst xmlns:a="http://schemas.openxmlformats.org/drawingml/2006/main">
              <a:ext uri="{FF2B5EF4-FFF2-40B4-BE49-F238E27FC236}">
                <a16:creationId xmlns:a16="http://schemas.microsoft.com/office/drawing/2014/main" id="{493168A9-9A4A-45D0-9DCC-79A0C7C8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671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2E7D5"/>
                </a:solidFill>
                <a:latin typeface="Aptos"/>
                <a:ea typeface="Aptos"/>
                <a:cs typeface="Aptos"/>
              </a:rPr>
              <a:t>Rhythm</a:t>
            </a:r>
          </a:p>
        </p:txBody>
      </p:sp>
      <p:sp>
        <p:nvSpPr>
          <p:cNvPr id="26" name="bar-2-track-before">
            <a:extLst xmlns:a="http://schemas.openxmlformats.org/drawingml/2006/main">
              <a:ext uri="{FF2B5EF4-FFF2-40B4-BE49-F238E27FC236}">
                <a16:creationId xmlns:a16="http://schemas.microsoft.com/office/drawing/2014/main" id="{15B487CE-218E-42FB-8F22-9E311269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05250"/>
            <a:ext cx="4038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bar-2-before">
            <a:extLst xmlns:a="http://schemas.openxmlformats.org/drawingml/2006/main">
              <a:ext uri="{FF2B5EF4-FFF2-40B4-BE49-F238E27FC236}">
                <a16:creationId xmlns:a16="http://schemas.microsoft.com/office/drawing/2014/main" id="{07973758-A548-4A31-A3F0-CE52D9D3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05250"/>
            <a:ext cx="242316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bar-2-track-after">
            <a:extLst xmlns:a="http://schemas.openxmlformats.org/drawingml/2006/main">
              <a:ext uri="{FF2B5EF4-FFF2-40B4-BE49-F238E27FC236}">
                <a16:creationId xmlns:a16="http://schemas.microsoft.com/office/drawing/2014/main" id="{680580D7-C0D1-43B9-A0AA-B46EB95F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7195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bar-2-after">
            <a:extLst xmlns:a="http://schemas.openxmlformats.org/drawingml/2006/main">
              <a:ext uri="{FF2B5EF4-FFF2-40B4-BE49-F238E27FC236}">
                <a16:creationId xmlns:a16="http://schemas.microsoft.com/office/drawing/2014/main" id="{052D335C-C566-4E61-8A54-793D35E5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71950"/>
            <a:ext cx="347319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bar-2-before-value">
            <a:extLst xmlns:a="http://schemas.openxmlformats.org/drawingml/2006/main">
              <a:ext uri="{FF2B5EF4-FFF2-40B4-BE49-F238E27FC236}">
                <a16:creationId xmlns:a16="http://schemas.microsoft.com/office/drawing/2014/main" id="{84BC76FD-4D5F-4BF5-B8AF-6182A0ED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38766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AC1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AC1C7"/>
                </a:solidFill>
                <a:latin typeface="Aptos"/>
                <a:ea typeface="Aptos"/>
                <a:cs typeface="Aptos"/>
              </a:rPr>
              <a:t>3.0</a:t>
            </a:r>
          </a:p>
        </p:txBody>
      </p:sp>
      <p:sp>
        <p:nvSpPr>
          <p:cNvPr id="31" name="bar-2-after-value">
            <a:extLst xmlns:a="http://schemas.openxmlformats.org/drawingml/2006/main">
              <a:ext uri="{FF2B5EF4-FFF2-40B4-BE49-F238E27FC236}">
                <a16:creationId xmlns:a16="http://schemas.microsoft.com/office/drawing/2014/main" id="{C4703DB0-4C61-4AAB-BD07-37D7DCD2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846" y="41624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2E7D5"/>
                </a:solidFill>
                <a:latin typeface="Aptos"/>
                <a:ea typeface="Aptos"/>
                <a:cs typeface="Aptos"/>
              </a:rPr>
              <a:t>4.3</a:t>
            </a:r>
          </a:p>
        </p:txBody>
      </p:sp>
      <p:sp>
        <p:nvSpPr>
          <p:cNvPr id="32" name="bar-3-label">
            <a:extLst xmlns:a="http://schemas.openxmlformats.org/drawingml/2006/main">
              <a:ext uri="{FF2B5EF4-FFF2-40B4-BE49-F238E27FC236}">
                <a16:creationId xmlns:a16="http://schemas.microsoft.com/office/drawing/2014/main" id="{9D7D0F55-72CB-4047-8BD3-B9522E2C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24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2E7D5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33" name="bar-3-track-before">
            <a:extLst xmlns:a="http://schemas.openxmlformats.org/drawingml/2006/main">
              <a:ext uri="{FF2B5EF4-FFF2-40B4-BE49-F238E27FC236}">
                <a16:creationId xmlns:a16="http://schemas.microsoft.com/office/drawing/2014/main" id="{5FDD7E80-F0A8-4394-82FF-5FBBCC7E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62500"/>
            <a:ext cx="4038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bar-3-before">
            <a:extLst xmlns:a="http://schemas.openxmlformats.org/drawingml/2006/main">
              <a:ext uri="{FF2B5EF4-FFF2-40B4-BE49-F238E27FC236}">
                <a16:creationId xmlns:a16="http://schemas.microsoft.com/office/drawing/2014/main" id="{2B42BCE8-C13C-443E-9944-4EF4A1EA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62500"/>
            <a:ext cx="2907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2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bar-3-track-after">
            <a:extLst xmlns:a="http://schemas.openxmlformats.org/drawingml/2006/main">
              <a:ext uri="{FF2B5EF4-FFF2-40B4-BE49-F238E27FC236}">
                <a16:creationId xmlns:a16="http://schemas.microsoft.com/office/drawing/2014/main" id="{325D719A-B543-41CD-AC1E-B1F0004B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2920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bar-3-after">
            <a:extLst xmlns:a="http://schemas.openxmlformats.org/drawingml/2006/main">
              <a:ext uri="{FF2B5EF4-FFF2-40B4-BE49-F238E27FC236}">
                <a16:creationId xmlns:a16="http://schemas.microsoft.com/office/drawing/2014/main" id="{134669F1-0EED-4C02-B666-0808070A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29200"/>
            <a:ext cx="379628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7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bar-3-before-value">
            <a:extLst xmlns:a="http://schemas.openxmlformats.org/drawingml/2006/main">
              <a:ext uri="{FF2B5EF4-FFF2-40B4-BE49-F238E27FC236}">
                <a16:creationId xmlns:a16="http://schemas.microsoft.com/office/drawing/2014/main" id="{7A2CE7F3-D4E0-419B-B731-D83C4030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442" y="47339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AC1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AC1C7"/>
                </a:solidFill>
                <a:latin typeface="Aptos"/>
                <a:ea typeface="Aptos"/>
                <a:cs typeface="Aptos"/>
              </a:rPr>
              <a:t>3.6</a:t>
            </a:r>
          </a:p>
        </p:txBody>
      </p:sp>
      <p:sp>
        <p:nvSpPr>
          <p:cNvPr id="38" name="bar-3-after-value">
            <a:extLst xmlns:a="http://schemas.openxmlformats.org/drawingml/2006/main">
              <a:ext uri="{FF2B5EF4-FFF2-40B4-BE49-F238E27FC236}">
                <a16:creationId xmlns:a16="http://schemas.microsoft.com/office/drawing/2014/main" id="{F51606D1-68C3-4591-851F-54C12CCB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934" y="50196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E7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2E7D5"/>
                </a:solidFill>
                <a:latin typeface="Aptos"/>
                <a:ea typeface="Aptos"/>
                <a:cs typeface="Aptos"/>
              </a:rPr>
              <a:t>4.7</a:t>
            </a:r>
          </a:p>
        </p:txBody>
      </p:sp>
      <p:sp>
        <p:nvSpPr>
          <p:cNvPr id="39" name="chart-axis">
            <a:extLst xmlns:a="http://schemas.openxmlformats.org/drawingml/2006/main">
              <a:ext uri="{FF2B5EF4-FFF2-40B4-BE49-F238E27FC236}">
                <a16:creationId xmlns:a16="http://schemas.microsoft.com/office/drawing/2014/main" id="{E6151BEE-B855-4848-9878-1D2C8ED9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676900"/>
            <a:ext cx="403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axis-0">
            <a:extLst xmlns:a="http://schemas.openxmlformats.org/drawingml/2006/main">
              <a:ext uri="{FF2B5EF4-FFF2-40B4-BE49-F238E27FC236}">
                <a16:creationId xmlns:a16="http://schemas.microsoft.com/office/drawing/2014/main" id="{288BB442-F821-4CBA-A59D-99EFF615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721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AC1C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AC1C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1" name="axis-5">
            <a:extLst xmlns:a="http://schemas.openxmlformats.org/drawingml/2006/main">
              <a:ext uri="{FF2B5EF4-FFF2-40B4-BE49-F238E27FC236}">
                <a16:creationId xmlns:a16="http://schemas.microsoft.com/office/drawing/2014/main" id="{DE3A015B-74DB-4922-8071-8A313D2B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77215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AC1C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AC1C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4A4F4A2-41F7-4837-97B7-35D5C844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221F994-47A0-4F37-9BF8-E69353FB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DBF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DBFAE"/>
                </a:solidFill>
                <a:latin typeface="Aptos"/>
                <a:ea typeface="Aptos"/>
                <a:cs typeface="Aptos"/>
              </a:rPr>
              <a:t>Illustrative example data | Generated with artifact-tool PPTX skill</a:t>
            </a:r>
          </a:p>
        </p:txBody>
      </p:sp>
      <p:sp>
        <p:nvSpPr>
          <p:cNvPr id="4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C0390E6-8485-400B-9A51-2D629473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DBF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DBFA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7040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2026-06-16T10:13:40.5760000Z</dcterms:created>
  <dcterms:modified xsi:type="dcterms:W3CDTF">2026-06-16T10:13:40.5760000Z</dcterms:modified>
</coreProperties>
</file>